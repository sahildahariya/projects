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257" r:id="rId3"/>
    <p:sldId id="258" r:id="rId4"/>
    <p:sldId id="264" r:id="rId5"/>
    <p:sldId id="263" r:id="rId6"/>
    <p:sldId id="262" r:id="rId7"/>
    <p:sldId id="267" r:id="rId8"/>
    <p:sldId id="268" r:id="rId9"/>
    <p:sldId id="271" r:id="rId10"/>
    <p:sldId id="270" r:id="rId11"/>
    <p:sldId id="269" r:id="rId12"/>
    <p:sldId id="274" r:id="rId13"/>
    <p:sldId id="273" r:id="rId14"/>
    <p:sldId id="266" r:id="rId15"/>
    <p:sldId id="265" r:id="rId16"/>
    <p:sldId id="259" r:id="rId17"/>
    <p:sldId id="260" r:id="rId18"/>
  </p:sldIdLst>
  <p:sldSz cx="9902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2205" autoAdjust="0"/>
  </p:normalViewPr>
  <p:slideViewPr>
    <p:cSldViewPr snapToGrid="0">
      <p:cViewPr>
        <p:scale>
          <a:sx n="66" d="100"/>
          <a:sy n="66" d="100"/>
        </p:scale>
        <p:origin x="1518" y="156"/>
      </p:cViewPr>
      <p:guideLst>
        <p:guide pos="3119"/>
        <p:guide orient="horz" pos="2183"/>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2024-09-11</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3</a:t>
            </a:fld>
            <a:endParaRPr lang="ko-KR" altLang="en-US"/>
          </a:p>
        </p:txBody>
      </p:sp>
    </p:spTree>
    <p:extLst>
      <p:ext uri="{BB962C8B-B14F-4D97-AF65-F5344CB8AC3E}">
        <p14:creationId xmlns:p14="http://schemas.microsoft.com/office/powerpoint/2010/main" val="594852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4</a:t>
            </a:fld>
            <a:endParaRPr lang="ko-KR" altLang="en-US"/>
          </a:p>
        </p:txBody>
      </p:sp>
    </p:spTree>
    <p:extLst>
      <p:ext uri="{BB962C8B-B14F-4D97-AF65-F5344CB8AC3E}">
        <p14:creationId xmlns:p14="http://schemas.microsoft.com/office/powerpoint/2010/main" val="3594686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5</a:t>
            </a:fld>
            <a:endParaRPr lang="ko-KR" altLang="en-US"/>
          </a:p>
        </p:txBody>
      </p:sp>
    </p:spTree>
    <p:extLst>
      <p:ext uri="{BB962C8B-B14F-4D97-AF65-F5344CB8AC3E}">
        <p14:creationId xmlns:p14="http://schemas.microsoft.com/office/powerpoint/2010/main" val="3232522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6</a:t>
            </a:fld>
            <a:endParaRPr lang="ko-KR" altLang="en-US"/>
          </a:p>
        </p:txBody>
      </p:sp>
    </p:spTree>
    <p:extLst>
      <p:ext uri="{BB962C8B-B14F-4D97-AF65-F5344CB8AC3E}">
        <p14:creationId xmlns:p14="http://schemas.microsoft.com/office/powerpoint/2010/main" val="31444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7</a:t>
            </a:fld>
            <a:endParaRPr lang="ko-KR" altLang="en-US"/>
          </a:p>
        </p:txBody>
      </p:sp>
    </p:spTree>
    <p:extLst>
      <p:ext uri="{BB962C8B-B14F-4D97-AF65-F5344CB8AC3E}">
        <p14:creationId xmlns:p14="http://schemas.microsoft.com/office/powerpoint/2010/main" val="407062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8</a:t>
            </a:fld>
            <a:endParaRPr lang="ko-KR" altLang="en-US"/>
          </a:p>
        </p:txBody>
      </p:sp>
    </p:spTree>
    <p:extLst>
      <p:ext uri="{BB962C8B-B14F-4D97-AF65-F5344CB8AC3E}">
        <p14:creationId xmlns:p14="http://schemas.microsoft.com/office/powerpoint/2010/main" val="38919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9</a:t>
            </a:fld>
            <a:endParaRPr lang="ko-KR" altLang="en-US"/>
          </a:p>
        </p:txBody>
      </p:sp>
    </p:spTree>
    <p:extLst>
      <p:ext uri="{BB962C8B-B14F-4D97-AF65-F5344CB8AC3E}">
        <p14:creationId xmlns:p14="http://schemas.microsoft.com/office/powerpoint/2010/main" val="4283173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10</a:t>
            </a:fld>
            <a:endParaRPr lang="ko-KR" altLang="en-US"/>
          </a:p>
        </p:txBody>
      </p:sp>
    </p:spTree>
    <p:extLst>
      <p:ext uri="{BB962C8B-B14F-4D97-AF65-F5344CB8AC3E}">
        <p14:creationId xmlns:p14="http://schemas.microsoft.com/office/powerpoint/2010/main" val="3608269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11</a:t>
            </a:fld>
            <a:endParaRPr lang="ko-KR" altLang="en-US"/>
          </a:p>
        </p:txBody>
      </p:sp>
    </p:spTree>
    <p:extLst>
      <p:ext uri="{BB962C8B-B14F-4D97-AF65-F5344CB8AC3E}">
        <p14:creationId xmlns:p14="http://schemas.microsoft.com/office/powerpoint/2010/main" val="2894212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12</a:t>
            </a:fld>
            <a:endParaRPr lang="ko-KR" altLang="en-US"/>
          </a:p>
        </p:txBody>
      </p:sp>
    </p:spTree>
    <p:extLst>
      <p:ext uri="{BB962C8B-B14F-4D97-AF65-F5344CB8AC3E}">
        <p14:creationId xmlns:p14="http://schemas.microsoft.com/office/powerpoint/2010/main" val="3014375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13</a:t>
            </a:fld>
            <a:endParaRPr lang="ko-KR" altLang="en-US"/>
          </a:p>
        </p:txBody>
      </p:sp>
    </p:spTree>
    <p:extLst>
      <p:ext uri="{BB962C8B-B14F-4D97-AF65-F5344CB8AC3E}">
        <p14:creationId xmlns:p14="http://schemas.microsoft.com/office/powerpoint/2010/main" val="1544418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14</a:t>
            </a:fld>
            <a:endParaRPr lang="ko-KR" altLang="en-US"/>
          </a:p>
        </p:txBody>
      </p:sp>
    </p:spTree>
    <p:extLst>
      <p:ext uri="{BB962C8B-B14F-4D97-AF65-F5344CB8AC3E}">
        <p14:creationId xmlns:p14="http://schemas.microsoft.com/office/powerpoint/2010/main" val="2842352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r>
              <a:rPr lang="en-US" altLang="ko-KR" dirty="0"/>
              <a:t>Note:</a:t>
            </a:r>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15</a:t>
            </a:fld>
            <a:endParaRPr lang="ko-KR" altLang="en-US"/>
          </a:p>
        </p:txBody>
      </p:sp>
    </p:spTree>
    <p:extLst>
      <p:ext uri="{BB962C8B-B14F-4D97-AF65-F5344CB8AC3E}">
        <p14:creationId xmlns:p14="http://schemas.microsoft.com/office/powerpoint/2010/main" val="216104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dirty="0">
                <a:solidFill>
                  <a:srgbClr val="1428A0"/>
                </a:solidFill>
                <a:latin typeface="Samsung Sharp Sans" pitchFamily="2" charset="0"/>
                <a:ea typeface="Samsung Sharp Sans" pitchFamily="2" charset="0"/>
                <a:cs typeface="Samsung Sharp Sans" pitchFamily="2" charset="0"/>
              </a:rPr>
              <a:t>C&amp;P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327086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HAPTER">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15" name="텍스트 개체 틀 3">
            <a:extLst>
              <a:ext uri="{FF2B5EF4-FFF2-40B4-BE49-F238E27FC236}">
                <a16:creationId xmlns:a16="http://schemas.microsoft.com/office/drawing/2014/main" id="{AC93F9AC-4BB5-4E2D-8093-19270B267164}"/>
              </a:ext>
            </a:extLst>
          </p:cNvPr>
          <p:cNvSpPr>
            <a:spLocks noGrp="1"/>
          </p:cNvSpPr>
          <p:nvPr>
            <p:ph type="body" sz="quarter" idx="10" hasCustomPrompt="1"/>
          </p:nvPr>
        </p:nvSpPr>
        <p:spPr>
          <a:xfrm>
            <a:off x="985007" y="2524714"/>
            <a:ext cx="4616240" cy="1329932"/>
          </a:xfrm>
          <a:prstGeom prst="rect">
            <a:avLst/>
          </a:prstGeom>
        </p:spPr>
        <p:txBody>
          <a:bodyPr lIns="0" tIns="0" rIns="0" bIns="0" anchor="t"/>
          <a:lstStyle>
            <a:lvl1pPr marL="0" indent="0">
              <a:lnSpc>
                <a:spcPct val="100000"/>
              </a:lnSpc>
              <a:spcBef>
                <a:spcPts val="0"/>
              </a:spcBef>
              <a:buNone/>
              <a:defRPr sz="4399">
                <a:latin typeface="Samsung Sharp Sans"/>
              </a:defRPr>
            </a:lvl1pPr>
          </a:lstStyle>
          <a:p>
            <a:pPr lvl="0"/>
            <a:r>
              <a:rPr lang="en-US"/>
              <a:t>Title 1</a:t>
            </a:r>
          </a:p>
          <a:p>
            <a:pPr lvl="0"/>
            <a:r>
              <a:rPr lang="en-US"/>
              <a:t>Title 2</a:t>
            </a:r>
          </a:p>
        </p:txBody>
      </p:sp>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70"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3"/>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843800"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843800"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5"/>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9" name="직사각형 8">
            <a:extLst>
              <a:ext uri="{FF2B5EF4-FFF2-40B4-BE49-F238E27FC236}">
                <a16:creationId xmlns:a16="http://schemas.microsoft.com/office/drawing/2014/main" id="{978045EE-4149-4D34-BDD0-4CED7F53CB86}"/>
              </a:ext>
            </a:extLst>
          </p:cNvPr>
          <p:cNvSpPr/>
          <p:nvPr userDrawn="1"/>
        </p:nvSpPr>
        <p:spPr>
          <a:xfrm>
            <a:off x="719769" y="2095280"/>
            <a:ext cx="59989"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1914">
              <a:defRPr/>
            </a:pPr>
            <a:endParaRPr lang="ko-KR" altLang="en-US" sz="1662"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5D8DECC6-E1CF-42DF-AFF2-431EEB2BDEB9}"/>
              </a:ext>
            </a:extLst>
          </p:cNvPr>
          <p:cNvSpPr/>
          <p:nvPr userDrawn="1"/>
        </p:nvSpPr>
        <p:spPr>
          <a:xfrm>
            <a:off x="719769" y="4157762"/>
            <a:ext cx="59989"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1914">
              <a:defRPr/>
            </a:pPr>
            <a:endParaRPr lang="ko-KR" altLang="en-US" sz="1662" dirty="0">
              <a:solidFill>
                <a:prstClr val="white"/>
              </a:solidFill>
              <a:latin typeface="Calibri" panose="020F0502020204030204"/>
              <a:ea typeface="맑은 고딕" panose="020B0503020000020004" pitchFamily="50" charset="-127"/>
            </a:endParaRPr>
          </a:p>
        </p:txBody>
      </p:sp>
      <p:sp>
        <p:nvSpPr>
          <p:cNvPr id="21" name="텍스트 개체 틀 19">
            <a:extLst>
              <a:ext uri="{FF2B5EF4-FFF2-40B4-BE49-F238E27FC236}">
                <a16:creationId xmlns:a16="http://schemas.microsoft.com/office/drawing/2014/main" id="{99B695B2-CFFD-4F01-8492-DC3B0949AD42}"/>
              </a:ext>
            </a:extLst>
          </p:cNvPr>
          <p:cNvSpPr>
            <a:spLocks noGrp="1"/>
          </p:cNvSpPr>
          <p:nvPr>
            <p:ph type="body" sz="quarter" idx="12" hasCustomPrompt="1"/>
          </p:nvPr>
        </p:nvSpPr>
        <p:spPr>
          <a:xfrm>
            <a:off x="985007" y="2066881"/>
            <a:ext cx="5475500" cy="310896"/>
          </a:xfrm>
          <a:prstGeom prst="rect">
            <a:avLst/>
          </a:prstGeom>
        </p:spPr>
        <p:txBody>
          <a:bodyPr lIns="0" tIns="0" rIns="0" anchor="ctr"/>
          <a:lstStyle>
            <a:lvl1pPr marL="0" indent="0">
              <a:lnSpc>
                <a:spcPct val="100000"/>
              </a:lnSpc>
              <a:spcBef>
                <a:spcPts val="0"/>
              </a:spcBef>
              <a:buNone/>
              <a:defRPr sz="1999">
                <a:solidFill>
                  <a:schemeClr val="bg1">
                    <a:lumMod val="50000"/>
                  </a:schemeClr>
                </a:solidFill>
                <a:latin typeface="Samsung Sharp Sans"/>
              </a:defRPr>
            </a:lvl1pPr>
          </a:lstStyle>
          <a:p>
            <a:pPr lvl="0"/>
            <a:r>
              <a:rPr lang="en-US"/>
              <a:t>Chapter 1.</a:t>
            </a:r>
          </a:p>
        </p:txBody>
      </p:sp>
      <p:sp>
        <p:nvSpPr>
          <p:cNvPr id="18" name="직사각형 133">
            <a:extLst>
              <a:ext uri="{FF2B5EF4-FFF2-40B4-BE49-F238E27FC236}">
                <a16:creationId xmlns:a16="http://schemas.microsoft.com/office/drawing/2014/main" id="{E9FB640B-46E8-4BA3-B89E-CF58C8027238}"/>
              </a:ext>
            </a:extLst>
          </p:cNvPr>
          <p:cNvSpPr/>
          <p:nvPr userDrawn="1"/>
        </p:nvSpPr>
        <p:spPr>
          <a:xfrm>
            <a:off x="989683" y="4157822"/>
            <a:ext cx="2631915" cy="3230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a:defRPr/>
            </a:pPr>
            <a:r>
              <a:rPr lang="en-US" altLang="ko-KR" sz="2000" dirty="0">
                <a:solidFill>
                  <a:srgbClr val="1428A0"/>
                </a:solidFill>
                <a:latin typeface="Samsung Sharp Sans" pitchFamily="2" charset="0"/>
                <a:ea typeface="Samsung Sharp Sans" pitchFamily="2" charset="0"/>
                <a:cs typeface="Samsung Sharp Sans" pitchFamily="2" charset="0"/>
              </a:rPr>
              <a:t>C&amp;P</a:t>
            </a:r>
            <a:r>
              <a:rPr lang="en-US" altLang="ko-KR" sz="2099" dirty="0">
                <a:solidFill>
                  <a:srgbClr val="1428A0"/>
                </a:solidFill>
                <a:latin typeface="Samsung Sharp Sans"/>
                <a:ea typeface="Samsung Sharp Sans Regular" pitchFamily="2" charset="0"/>
                <a:cs typeface="Samsung Sharp Sans Regular" pitchFamily="2" charset="0"/>
              </a:rPr>
              <a:t> Course</a:t>
            </a:r>
            <a:endParaRPr lang="ko-KR" altLang="en-US" sz="2099" dirty="0">
              <a:solidFill>
                <a:srgbClr val="1428A0"/>
              </a:solidFill>
              <a:latin typeface="Samsung Sharp Sans"/>
              <a:ea typeface="Samsung Sharp Sans Regular" pitchFamily="2" charset="0"/>
              <a:cs typeface="Samsung Sharp Sans Regular" pitchFamily="2" charset="0"/>
            </a:endParaRPr>
          </a:p>
        </p:txBody>
      </p:sp>
    </p:spTree>
    <p:extLst>
      <p:ext uri="{BB962C8B-B14F-4D97-AF65-F5344CB8AC3E}">
        <p14:creationId xmlns:p14="http://schemas.microsoft.com/office/powerpoint/2010/main" val="1661294841"/>
      </p:ext>
    </p:extLst>
  </p:cSld>
  <p:clrMapOvr>
    <a:masterClrMapping/>
  </p:clrMapOvr>
  <p:extLst>
    <p:ext uri="{DCECCB84-F9BA-43D5-87BE-67443E8EF086}">
      <p15:sldGuideLst xmlns:p15="http://schemas.microsoft.com/office/powerpoint/2012/main">
        <p15:guide id="1" orient="horz" pos="2160">
          <p15:clr>
            <a:srgbClr val="FBAE40"/>
          </p15:clr>
        </p15:guide>
        <p15:guide id="2" pos="614">
          <p15:clr>
            <a:srgbClr val="FBAE40"/>
          </p15:clr>
        </p15:guide>
        <p15:guide id="3" pos="4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913125460"/>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766334290"/>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2021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3533615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792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816">
          <p15:clr>
            <a:srgbClr val="F26B43"/>
          </p15:clr>
        </p15:guide>
        <p15:guide id="1" orient="horz" pos="3997">
          <p15:clr>
            <a:srgbClr val="F26B43"/>
          </p15:clr>
        </p15:guide>
        <p15:guide id="2" pos="352">
          <p15:clr>
            <a:srgbClr val="F26B43"/>
          </p15:clr>
        </p15:guide>
        <p15:guide id="3" pos="5886">
          <p15:clr>
            <a:srgbClr val="F26B43"/>
          </p15:clr>
        </p15:guide>
        <p15:guide id="4" orient="horz" pos="323">
          <p15:clr>
            <a:srgbClr val="F26B43"/>
          </p15:clr>
        </p15:guide>
        <p15:guide id="5" orient="horz" pos="222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owais-mazhar/Iphone-Sales-Analysis"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51786819-9BFB-478D-BAE7-57DB1DEACF78}"/>
              </a:ext>
            </a:extLst>
          </p:cNvPr>
          <p:cNvSpPr>
            <a:spLocks noGrp="1"/>
          </p:cNvSpPr>
          <p:nvPr>
            <p:ph type="title"/>
          </p:nvPr>
        </p:nvSpPr>
        <p:spPr>
          <a:xfrm>
            <a:off x="720000" y="2532123"/>
            <a:ext cx="6419031" cy="1719000"/>
          </a:xfrm>
        </p:spPr>
        <p:txBody>
          <a:bodyPr/>
          <a:lstStyle/>
          <a:p>
            <a:r>
              <a:rPr lang="en-US" altLang="ko-KR" dirty="0"/>
              <a:t>Samsung Innovation Campus</a:t>
            </a:r>
          </a:p>
        </p:txBody>
      </p:sp>
    </p:spTree>
    <p:extLst>
      <p:ext uri="{BB962C8B-B14F-4D97-AF65-F5344CB8AC3E}">
        <p14:creationId xmlns:p14="http://schemas.microsoft.com/office/powerpoint/2010/main" val="311313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F7F44C61-D919-4428-8B7A-D05C22D2BCAE}"/>
              </a:ext>
            </a:extLst>
          </p:cNvPr>
          <p:cNvSpPr>
            <a:spLocks noGrp="1"/>
          </p:cNvSpPr>
          <p:nvPr>
            <p:ph type="body" sz="quarter" idx="10"/>
          </p:nvPr>
        </p:nvSpPr>
        <p:spPr>
          <a:xfrm>
            <a:off x="974725" y="2099493"/>
            <a:ext cx="8752115" cy="1329506"/>
          </a:xfrm>
        </p:spPr>
        <p:txBody>
          <a:bodyPr/>
          <a:lstStyle/>
          <a:p>
            <a:r>
              <a:rPr lang="en-US" altLang="ko-KR" dirty="0"/>
              <a:t>Project Name : iPhone Sales Analysis</a:t>
            </a:r>
          </a:p>
        </p:txBody>
      </p:sp>
      <p:sp>
        <p:nvSpPr>
          <p:cNvPr id="3" name="직사각형 133">
            <a:extLst>
              <a:ext uri="{FF2B5EF4-FFF2-40B4-BE49-F238E27FC236}">
                <a16:creationId xmlns:a16="http://schemas.microsoft.com/office/drawing/2014/main" id="{5BE4CBA7-B2DE-4D34-8EE6-EC228375E823}"/>
              </a:ext>
            </a:extLst>
          </p:cNvPr>
          <p:cNvSpPr/>
          <p:nvPr/>
        </p:nvSpPr>
        <p:spPr>
          <a:xfrm>
            <a:off x="974725" y="3121224"/>
            <a:ext cx="8142087" cy="615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r>
              <a:rPr lang="en-US" altLang="ko-KR" sz="2000" b="1" u="sng" dirty="0">
                <a:solidFill>
                  <a:schemeClr val="tx1"/>
                </a:solidFill>
                <a:latin typeface="Samsung Sharp Sans" pitchFamily="2" charset="0"/>
                <a:ea typeface="Samsung Sharp Sans" pitchFamily="2" charset="0"/>
                <a:cs typeface="Samsung Sharp Sans" pitchFamily="2" charset="0"/>
              </a:rPr>
              <a:t>Team Names – </a:t>
            </a:r>
          </a:p>
          <a:p>
            <a:r>
              <a:rPr lang="en-US" altLang="ko-KR" sz="2000" dirty="0">
                <a:solidFill>
                  <a:schemeClr val="tx1"/>
                </a:solidFill>
                <a:latin typeface="Samsung Sharp Sans" pitchFamily="2" charset="0"/>
                <a:ea typeface="Samsung Sharp Sans" pitchFamily="2" charset="0"/>
                <a:cs typeface="Samsung Sharp Sans" pitchFamily="2" charset="0"/>
              </a:rPr>
              <a:t>Akanchha Kumari, Anita Singh, Ashish Tiwari, Jay </a:t>
            </a:r>
            <a:r>
              <a:rPr lang="en-US" altLang="ko-KR" sz="2000" dirty="0" err="1">
                <a:solidFill>
                  <a:schemeClr val="tx1"/>
                </a:solidFill>
                <a:latin typeface="Samsung Sharp Sans" pitchFamily="2" charset="0"/>
                <a:ea typeface="Samsung Sharp Sans" pitchFamily="2" charset="0"/>
                <a:cs typeface="Samsung Sharp Sans" pitchFamily="2" charset="0"/>
              </a:rPr>
              <a:t>Kishan</a:t>
            </a:r>
            <a:r>
              <a:rPr lang="en-US" altLang="ko-KR" sz="2000" dirty="0">
                <a:solidFill>
                  <a:schemeClr val="tx1"/>
                </a:solidFill>
                <a:latin typeface="Samsung Sharp Sans" pitchFamily="2" charset="0"/>
                <a:ea typeface="Samsung Sharp Sans" pitchFamily="2" charset="0"/>
                <a:cs typeface="Samsung Sharp Sans" pitchFamily="2" charset="0"/>
              </a:rPr>
              <a:t> </a:t>
            </a:r>
            <a:r>
              <a:rPr lang="en-US" altLang="ko-KR" sz="2000" dirty="0" err="1">
                <a:solidFill>
                  <a:schemeClr val="tx1"/>
                </a:solidFill>
                <a:latin typeface="Samsung Sharp Sans" pitchFamily="2" charset="0"/>
                <a:ea typeface="Samsung Sharp Sans" pitchFamily="2" charset="0"/>
                <a:cs typeface="Samsung Sharp Sans" pitchFamily="2" charset="0"/>
              </a:rPr>
              <a:t>Dhurwe</a:t>
            </a:r>
            <a:r>
              <a:rPr lang="en-US" altLang="ko-KR" sz="2000" dirty="0">
                <a:solidFill>
                  <a:schemeClr val="tx1"/>
                </a:solidFill>
                <a:latin typeface="Samsung Sharp Sans" pitchFamily="2" charset="0"/>
                <a:ea typeface="Samsung Sharp Sans" pitchFamily="2" charset="0"/>
                <a:cs typeface="Samsung Sharp Sans" pitchFamily="2" charset="0"/>
              </a:rPr>
              <a:t>, Vijay Kashyap</a:t>
            </a:r>
          </a:p>
        </p:txBody>
      </p:sp>
      <p:sp>
        <p:nvSpPr>
          <p:cNvPr id="2" name="TextBox 1">
            <a:extLst>
              <a:ext uri="{FF2B5EF4-FFF2-40B4-BE49-F238E27FC236}">
                <a16:creationId xmlns:a16="http://schemas.microsoft.com/office/drawing/2014/main" id="{687AA3A7-B258-7223-EE2A-A6955F887F37}"/>
              </a:ext>
            </a:extLst>
          </p:cNvPr>
          <p:cNvSpPr txBox="1"/>
          <p:nvPr/>
        </p:nvSpPr>
        <p:spPr>
          <a:xfrm>
            <a:off x="974725" y="5413828"/>
            <a:ext cx="2422202" cy="923330"/>
          </a:xfrm>
          <a:prstGeom prst="rect">
            <a:avLst/>
          </a:prstGeom>
          <a:noFill/>
        </p:spPr>
        <p:txBody>
          <a:bodyPr wrap="none" rtlCol="0">
            <a:spAutoFit/>
          </a:bodyPr>
          <a:lstStyle/>
          <a:p>
            <a:r>
              <a:rPr lang="en-US" altLang="ko-KR" b="1" u="sng" dirty="0">
                <a:solidFill>
                  <a:schemeClr val="tx1"/>
                </a:solidFill>
                <a:latin typeface="Samsung Sharp Sans" pitchFamily="2" charset="0"/>
                <a:ea typeface="Samsung Sharp Sans" pitchFamily="2" charset="0"/>
                <a:cs typeface="Samsung Sharp Sans" pitchFamily="2" charset="0"/>
              </a:rPr>
              <a:t>Guided by –</a:t>
            </a:r>
          </a:p>
          <a:p>
            <a:r>
              <a:rPr lang="en-US" altLang="ko-KR" dirty="0">
                <a:solidFill>
                  <a:schemeClr val="tx1"/>
                </a:solidFill>
                <a:latin typeface="Samsung Sharp Sans" pitchFamily="2" charset="0"/>
                <a:ea typeface="Samsung Sharp Sans" pitchFamily="2" charset="0"/>
                <a:cs typeface="Samsung Sharp Sans" pitchFamily="2" charset="0"/>
              </a:rPr>
              <a:t>Satish Kumar </a:t>
            </a:r>
            <a:r>
              <a:rPr lang="en-US" altLang="ko-KR" dirty="0" err="1">
                <a:solidFill>
                  <a:schemeClr val="tx1"/>
                </a:solidFill>
                <a:latin typeface="Samsung Sharp Sans" pitchFamily="2" charset="0"/>
                <a:ea typeface="Samsung Sharp Sans" pitchFamily="2" charset="0"/>
                <a:cs typeface="Samsung Sharp Sans" pitchFamily="2" charset="0"/>
              </a:rPr>
              <a:t>Dhiwar</a:t>
            </a:r>
            <a:r>
              <a:rPr lang="en-US" altLang="ko-KR" dirty="0">
                <a:solidFill>
                  <a:schemeClr val="tx1"/>
                </a:solidFill>
                <a:latin typeface="Samsung Sharp Sans" pitchFamily="2" charset="0"/>
                <a:ea typeface="Samsung Sharp Sans" pitchFamily="2" charset="0"/>
                <a:cs typeface="Samsung Sharp Sans" pitchFamily="2" charset="0"/>
              </a:rPr>
              <a:t> Sir</a:t>
            </a:r>
          </a:p>
          <a:p>
            <a:endParaRPr lang="en-IN" dirty="0"/>
          </a:p>
        </p:txBody>
      </p:sp>
    </p:spTree>
    <p:extLst>
      <p:ext uri="{BB962C8B-B14F-4D97-AF65-F5344CB8AC3E}">
        <p14:creationId xmlns:p14="http://schemas.microsoft.com/office/powerpoint/2010/main" val="3996991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Introduction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5" name="Rectangle 3">
            <a:extLst>
              <a:ext uri="{FF2B5EF4-FFF2-40B4-BE49-F238E27FC236}">
                <a16:creationId xmlns:a16="http://schemas.microsoft.com/office/drawing/2014/main" id="{81690CF4-9294-3866-8B52-E6DA56CA802A}"/>
              </a:ext>
            </a:extLst>
          </p:cNvPr>
          <p:cNvSpPr>
            <a:spLocks noChangeArrowheads="1"/>
          </p:cNvSpPr>
          <p:nvPr/>
        </p:nvSpPr>
        <p:spPr bwMode="auto">
          <a:xfrm>
            <a:off x="528795" y="1629142"/>
            <a:ext cx="878205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today's fast-paced digital market, firms must understand consumer behavior and sales trends in order to stay competitive. With the popularity of mobile devices, notably iPhones, evaluating sales data on these platforms has become increasingly vital. This project intends to create a comprehensive sales analysis system based on iPhone data, utilizing the power of Python programming to find important insights and make instructed business decisions.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goal of this project is to design and implement a data-driven solution that can process and analyze large datasets of iPhone sales, providing actionable recommendations to stakeholders. We built an effective and scalable system capable of handling complicated data analysis tasks by utilizing Python's data science ecosystem, which includes popular modules such as pandas, NumPy, and Matplotlib, Seaborn.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We worked with a dataset of iPhone sales, which will be cleaned, processed, and visualized to extract meaningful patterns and correlations.</a:t>
            </a:r>
          </a:p>
        </p:txBody>
      </p:sp>
    </p:spTree>
    <p:extLst>
      <p:ext uri="{BB962C8B-B14F-4D97-AF65-F5344CB8AC3E}">
        <p14:creationId xmlns:p14="http://schemas.microsoft.com/office/powerpoint/2010/main" val="3042290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Problem Statement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flipV="1">
            <a:off x="1032032" y="7538986"/>
            <a:ext cx="3759635" cy="45719"/>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2" name="Rectangle 1">
            <a:extLst>
              <a:ext uri="{FF2B5EF4-FFF2-40B4-BE49-F238E27FC236}">
                <a16:creationId xmlns:a16="http://schemas.microsoft.com/office/drawing/2014/main" id="{828438C2-7080-9CD6-E768-72D4F70D140C}"/>
              </a:ext>
            </a:extLst>
          </p:cNvPr>
          <p:cNvSpPr>
            <a:spLocks noChangeArrowheads="1"/>
          </p:cNvSpPr>
          <p:nvPr/>
        </p:nvSpPr>
        <p:spPr bwMode="auto">
          <a:xfrm>
            <a:off x="742853" y="1983084"/>
            <a:ext cx="801120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purpose of this analysis is to better understand the sales success and consumer satisfaction of various iPhone models using important data such as sale prices, ratings, and customer reviews. By studying this data, we want to find trends and links between price, discounts, user ratings, and the amount of reviews, allowing us to make better business and marketing decisions.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Specifically, we aim to explore:</a:t>
            </a:r>
            <a:endParaRPr lang="en-US" altLang="en-US" sz="16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How iPhone pricing affects the quantity of ratings and reviews.</a:t>
            </a:r>
            <a:endParaRPr lang="en-US" altLang="en-US" sz="16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relationship between user ratings and sales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Does star ratings really reflect customer happiness and product popularity?</a:t>
            </a:r>
          </a:p>
        </p:txBody>
      </p:sp>
    </p:spTree>
    <p:extLst>
      <p:ext uri="{BB962C8B-B14F-4D97-AF65-F5344CB8AC3E}">
        <p14:creationId xmlns:p14="http://schemas.microsoft.com/office/powerpoint/2010/main" val="1819080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5666732"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Algorithm used to solve the problem</a:t>
            </a:r>
          </a:p>
        </p:txBody>
      </p:sp>
      <p:grpSp>
        <p:nvGrpSpPr>
          <p:cNvPr id="22" name="Group 1">
            <a:extLst>
              <a:ext uri="{FF2B5EF4-FFF2-40B4-BE49-F238E27FC236}">
                <a16:creationId xmlns:a16="http://schemas.microsoft.com/office/drawing/2014/main" id="{7D0214F6-55D5-4943-ABF3-DD8494318B52}"/>
              </a:ext>
            </a:extLst>
          </p:cNvPr>
          <p:cNvGrpSpPr/>
          <p:nvPr/>
        </p:nvGrpSpPr>
        <p:grpSpPr>
          <a:xfrm flipV="1">
            <a:off x="1705969" y="4866442"/>
            <a:ext cx="3193025" cy="45719"/>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2" name="Rectangle 1">
            <a:extLst>
              <a:ext uri="{FF2B5EF4-FFF2-40B4-BE49-F238E27FC236}">
                <a16:creationId xmlns:a16="http://schemas.microsoft.com/office/drawing/2014/main" id="{5EDA0B6E-CB72-8452-2AA4-6988DBC54312}"/>
              </a:ext>
            </a:extLst>
          </p:cNvPr>
          <p:cNvSpPr>
            <a:spLocks noChangeArrowheads="1"/>
          </p:cNvSpPr>
          <p:nvPr/>
        </p:nvSpPr>
        <p:spPr bwMode="auto">
          <a:xfrm>
            <a:off x="252349" y="1331573"/>
            <a:ext cx="9293289"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i="1" dirty="0">
                <a:latin typeface="Arial" panose="020B0604020202020204" pitchFamily="34" charset="0"/>
              </a:rPr>
              <a:t>Algorithm/Steps Used: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i="1"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1400" dirty="0">
                <a:latin typeface="Arial" panose="020B0604020202020204" pitchFamily="34" charset="0"/>
              </a:rPr>
              <a:t>Data Collection &amp; Preprocessing: </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Collected the dataset of various iPhone models with information such as sale price, number of ratings, number of reviews, star rating, and RAM.</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Preprocessing steps included handling missing values and ensuring data consistency (e.g., converting data types where needed).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1400" dirty="0">
                <a:latin typeface="Arial" panose="020B0604020202020204" pitchFamily="34" charset="0"/>
              </a:rPr>
              <a:t>Exploratory Data Analysis (EDA):</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Bar Chart (Visualization): Used to compare the sale prices of different iPhone models to understand pricing trends.</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Scatter Plot (Visualization): Used to investigate the relationship between the number of ratings and number of reviews, along with the influence of star ratings.</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Statistical Summary: Used basic statistics (mean, median, etc.) to summarize important aspects of the data, such as average ratings, price ranges, and distribution of customer reviews.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1400" dirty="0">
                <a:latin typeface="Arial" panose="020B0604020202020204" pitchFamily="34" charset="0"/>
              </a:rPr>
              <a:t>Correlations:</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Scatter Plots helped identify potential relationships between different variables (e.g., how the number of ratings relates to the number of reviews or star ratings).</a:t>
            </a:r>
          </a:p>
          <a:p>
            <a:pPr marL="742950" lvl="1" indent="-2857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Visual inspection of data distributions and relationships through scatter plots enabled the identification of trends that would be crucial in making business decisions.</a:t>
            </a:r>
          </a:p>
        </p:txBody>
      </p:sp>
    </p:spTree>
    <p:extLst>
      <p:ext uri="{BB962C8B-B14F-4D97-AF65-F5344CB8AC3E}">
        <p14:creationId xmlns:p14="http://schemas.microsoft.com/office/powerpoint/2010/main" val="3157809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7392895"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Technologies Used for iPhone Sales Data Analysis:</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3" name="TextBox 2">
            <a:extLst>
              <a:ext uri="{FF2B5EF4-FFF2-40B4-BE49-F238E27FC236}">
                <a16:creationId xmlns:a16="http://schemas.microsoft.com/office/drawing/2014/main" id="{908D5391-E9D1-D14F-7043-05ACB3B96363}"/>
              </a:ext>
            </a:extLst>
          </p:cNvPr>
          <p:cNvSpPr txBox="1"/>
          <p:nvPr/>
        </p:nvSpPr>
        <p:spPr>
          <a:xfrm>
            <a:off x="379412" y="1229124"/>
            <a:ext cx="9144000" cy="4616648"/>
          </a:xfrm>
          <a:prstGeom prst="rect">
            <a:avLst/>
          </a:prstGeom>
          <a:noFill/>
        </p:spPr>
        <p:txBody>
          <a:bodyPr wrap="square">
            <a:spAutoFit/>
          </a:bodyPr>
          <a:lstStyle/>
          <a:p>
            <a:pPr marL="285750" indent="-285750">
              <a:buFont typeface="Wingdings" panose="05000000000000000000" pitchFamily="2" charset="2"/>
              <a:buChar char="v"/>
            </a:pPr>
            <a:r>
              <a:rPr lang="en-US" sz="1400" dirty="0"/>
              <a:t>Python:</a:t>
            </a:r>
          </a:p>
          <a:p>
            <a:pPr marL="742950" lvl="1" indent="-285750">
              <a:buFont typeface="Arial" panose="020B0604020202020204" pitchFamily="34" charset="0"/>
              <a:buChar char="•"/>
            </a:pPr>
            <a:r>
              <a:rPr lang="en-US" sz="1400" dirty="0"/>
              <a:t>Python was the primary programming language used for data analysis and visualization due to its powerful libraries for handling data, creating plots, and building presentations.</a:t>
            </a:r>
          </a:p>
          <a:p>
            <a:endParaRPr lang="en-US" sz="1400" dirty="0"/>
          </a:p>
          <a:p>
            <a:pPr marL="285750" indent="-285750">
              <a:buFont typeface="Wingdings" panose="05000000000000000000" pitchFamily="2" charset="2"/>
              <a:buChar char="v"/>
            </a:pPr>
            <a:r>
              <a:rPr lang="en-US" sz="1400" dirty="0"/>
              <a:t>Pandas:</a:t>
            </a:r>
          </a:p>
          <a:p>
            <a:pPr marL="742950" lvl="1" indent="-285750">
              <a:buFont typeface="Arial" panose="020B0604020202020204" pitchFamily="34" charset="0"/>
              <a:buChar char="•"/>
            </a:pPr>
            <a:r>
              <a:rPr lang="en-US" sz="1400" dirty="0"/>
              <a:t>A Python library used for data manipulation and analysis. </a:t>
            </a:r>
          </a:p>
          <a:p>
            <a:pPr marL="742950" lvl="1" indent="-285750">
              <a:buFont typeface="Arial" panose="020B0604020202020204" pitchFamily="34" charset="0"/>
              <a:buChar char="•"/>
            </a:pPr>
            <a:r>
              <a:rPr lang="en-US" sz="1400" dirty="0"/>
              <a:t>It allows easy reading, cleaning, and manipulation of structured data like CSV files.</a:t>
            </a:r>
          </a:p>
          <a:p>
            <a:pPr marL="742950" lvl="1" indent="-285750">
              <a:buFont typeface="Arial" panose="020B0604020202020204" pitchFamily="34" charset="0"/>
              <a:buChar char="•"/>
            </a:pPr>
            <a:endParaRPr lang="en-US" sz="1400" dirty="0"/>
          </a:p>
          <a:p>
            <a:pPr marL="285750" indent="-285750">
              <a:buFont typeface="Wingdings" panose="05000000000000000000" pitchFamily="2" charset="2"/>
              <a:buChar char="v"/>
            </a:pPr>
            <a:r>
              <a:rPr lang="en-US" sz="1400" dirty="0"/>
              <a:t>Matplotlib:</a:t>
            </a:r>
          </a:p>
          <a:p>
            <a:pPr marL="742950" lvl="1" indent="-285750">
              <a:buFont typeface="Arial" panose="020B0604020202020204" pitchFamily="34" charset="0"/>
              <a:buChar char="•"/>
            </a:pPr>
            <a:r>
              <a:rPr lang="en-US" sz="1400" dirty="0"/>
              <a:t>A plotting library for creating static, animated, and interactive visualizations in Python.</a:t>
            </a:r>
          </a:p>
          <a:p>
            <a:pPr marL="742950" lvl="1" indent="-285750">
              <a:buFont typeface="Arial" panose="020B0604020202020204" pitchFamily="34" charset="0"/>
              <a:buChar char="•"/>
            </a:pPr>
            <a:r>
              <a:rPr lang="en-US" sz="1400" dirty="0"/>
              <a:t>Used to generate various types of plots such as bar charts and scatter plots to visualize trends in iPhone sales data.</a:t>
            </a:r>
          </a:p>
          <a:p>
            <a:endParaRPr lang="en-US" sz="1400" dirty="0"/>
          </a:p>
          <a:p>
            <a:pPr marL="285750" indent="-285750">
              <a:buFont typeface="Wingdings" panose="05000000000000000000" pitchFamily="2" charset="2"/>
              <a:buChar char="v"/>
            </a:pPr>
            <a:r>
              <a:rPr lang="en-US" sz="1400" dirty="0"/>
              <a:t>Seaborn:</a:t>
            </a:r>
          </a:p>
          <a:p>
            <a:pPr marL="742950" lvl="1" indent="-285750">
              <a:buFont typeface="Arial" panose="020B0604020202020204" pitchFamily="34" charset="0"/>
              <a:buChar char="•"/>
            </a:pPr>
            <a:r>
              <a:rPr lang="en-US" sz="1400" dirty="0"/>
              <a:t>A Python data visualization library built on top of Matplotlib.</a:t>
            </a:r>
          </a:p>
          <a:p>
            <a:pPr marL="742950" lvl="1" indent="-285750">
              <a:buFont typeface="Arial" panose="020B0604020202020204" pitchFamily="34" charset="0"/>
              <a:buChar char="•"/>
            </a:pPr>
            <a:r>
              <a:rPr lang="en-US" sz="1400" dirty="0"/>
              <a:t>It provides a high-level interface for creating attractive and informative statistical graphics.</a:t>
            </a:r>
          </a:p>
          <a:p>
            <a:pPr marL="742950" lvl="1" indent="-285750">
              <a:buFont typeface="Arial" panose="020B0604020202020204" pitchFamily="34" charset="0"/>
              <a:buChar char="•"/>
            </a:pPr>
            <a:r>
              <a:rPr lang="en-US" sz="1400" dirty="0"/>
              <a:t>Used to create scatter plots and bar charts with added aesthetic appeal.</a:t>
            </a:r>
          </a:p>
          <a:p>
            <a:endParaRPr lang="en-US" sz="1400" dirty="0"/>
          </a:p>
          <a:p>
            <a:pPr marL="285750" indent="-285750">
              <a:buFont typeface="Wingdings" panose="05000000000000000000" pitchFamily="2" charset="2"/>
              <a:buChar char="v"/>
            </a:pPr>
            <a:r>
              <a:rPr lang="en-US" sz="1400" dirty="0" err="1"/>
              <a:t>Jupyter</a:t>
            </a:r>
            <a:r>
              <a:rPr lang="en-US" sz="1400" dirty="0"/>
              <a:t> Notebook:</a:t>
            </a:r>
          </a:p>
          <a:p>
            <a:pPr marL="742950" lvl="1" indent="-285750">
              <a:buFont typeface="Arial" panose="020B0604020202020204" pitchFamily="34" charset="0"/>
              <a:buChar char="•"/>
            </a:pPr>
            <a:r>
              <a:rPr lang="en-US" sz="1400" dirty="0"/>
              <a:t>Although not explicitly mentioned, </a:t>
            </a:r>
            <a:r>
              <a:rPr lang="en-US" sz="1400" dirty="0" err="1"/>
              <a:t>Jupyter</a:t>
            </a:r>
            <a:r>
              <a:rPr lang="en-US" sz="1400" dirty="0"/>
              <a:t> Notebooks are often used to write, test, and run Python code interactively. </a:t>
            </a:r>
          </a:p>
        </p:txBody>
      </p:sp>
    </p:spTree>
    <p:extLst>
      <p:ext uri="{BB962C8B-B14F-4D97-AF65-F5344CB8AC3E}">
        <p14:creationId xmlns:p14="http://schemas.microsoft.com/office/powerpoint/2010/main" val="910726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3" name="Picture 2">
            <a:extLst>
              <a:ext uri="{FF2B5EF4-FFF2-40B4-BE49-F238E27FC236}">
                <a16:creationId xmlns:a16="http://schemas.microsoft.com/office/drawing/2014/main" id="{DA124E84-B98A-B5A9-8707-C26D53C47EC9}"/>
              </a:ext>
            </a:extLst>
          </p:cNvPr>
          <p:cNvPicPr>
            <a:picLocks noChangeAspect="1"/>
          </p:cNvPicPr>
          <p:nvPr/>
        </p:nvPicPr>
        <p:blipFill>
          <a:blip r:embed="rId3"/>
          <a:stretch>
            <a:fillRect/>
          </a:stretch>
        </p:blipFill>
        <p:spPr>
          <a:xfrm>
            <a:off x="100071" y="1447642"/>
            <a:ext cx="9617273" cy="4610500"/>
          </a:xfrm>
          <a:prstGeom prst="rect">
            <a:avLst/>
          </a:prstGeom>
        </p:spPr>
      </p:pic>
    </p:spTree>
    <p:extLst>
      <p:ext uri="{BB962C8B-B14F-4D97-AF65-F5344CB8AC3E}">
        <p14:creationId xmlns:p14="http://schemas.microsoft.com/office/powerpoint/2010/main" val="3245250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4" name="Picture 3">
            <a:extLst>
              <a:ext uri="{FF2B5EF4-FFF2-40B4-BE49-F238E27FC236}">
                <a16:creationId xmlns:a16="http://schemas.microsoft.com/office/drawing/2014/main" id="{2CBE67AF-5305-CE45-C86D-64687B2D2C98}"/>
              </a:ext>
            </a:extLst>
          </p:cNvPr>
          <p:cNvPicPr>
            <a:picLocks noChangeAspect="1"/>
          </p:cNvPicPr>
          <p:nvPr/>
        </p:nvPicPr>
        <p:blipFill>
          <a:blip r:embed="rId3"/>
          <a:stretch>
            <a:fillRect/>
          </a:stretch>
        </p:blipFill>
        <p:spPr>
          <a:xfrm>
            <a:off x="121230" y="1244951"/>
            <a:ext cx="9069920" cy="5182812"/>
          </a:xfrm>
          <a:prstGeom prst="rect">
            <a:avLst/>
          </a:prstGeom>
        </p:spPr>
      </p:pic>
    </p:spTree>
    <p:extLst>
      <p:ext uri="{BB962C8B-B14F-4D97-AF65-F5344CB8AC3E}">
        <p14:creationId xmlns:p14="http://schemas.microsoft.com/office/powerpoint/2010/main" val="356338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3" name="Picture 2">
            <a:extLst>
              <a:ext uri="{FF2B5EF4-FFF2-40B4-BE49-F238E27FC236}">
                <a16:creationId xmlns:a16="http://schemas.microsoft.com/office/drawing/2014/main" id="{5024D130-2422-55E6-428B-D61C34D59190}"/>
              </a:ext>
            </a:extLst>
          </p:cNvPr>
          <p:cNvPicPr>
            <a:picLocks noChangeAspect="1"/>
          </p:cNvPicPr>
          <p:nvPr/>
        </p:nvPicPr>
        <p:blipFill>
          <a:blip r:embed="rId3"/>
          <a:stretch>
            <a:fillRect/>
          </a:stretch>
        </p:blipFill>
        <p:spPr>
          <a:xfrm>
            <a:off x="711675" y="1252817"/>
            <a:ext cx="7641770" cy="5157314"/>
          </a:xfrm>
          <a:prstGeom prst="rect">
            <a:avLst/>
          </a:prstGeom>
        </p:spPr>
      </p:pic>
    </p:spTree>
    <p:extLst>
      <p:ext uri="{BB962C8B-B14F-4D97-AF65-F5344CB8AC3E}">
        <p14:creationId xmlns:p14="http://schemas.microsoft.com/office/powerpoint/2010/main" val="2566549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3" name="Picture 2">
            <a:extLst>
              <a:ext uri="{FF2B5EF4-FFF2-40B4-BE49-F238E27FC236}">
                <a16:creationId xmlns:a16="http://schemas.microsoft.com/office/drawing/2014/main" id="{3FCC6C8A-BF93-9F88-EBE2-3A020D80CC4C}"/>
              </a:ext>
            </a:extLst>
          </p:cNvPr>
          <p:cNvPicPr>
            <a:picLocks noChangeAspect="1"/>
          </p:cNvPicPr>
          <p:nvPr/>
        </p:nvPicPr>
        <p:blipFill>
          <a:blip r:embed="rId3"/>
          <a:stretch>
            <a:fillRect/>
          </a:stretch>
        </p:blipFill>
        <p:spPr>
          <a:xfrm>
            <a:off x="251927" y="1239155"/>
            <a:ext cx="8939223" cy="5246836"/>
          </a:xfrm>
          <a:prstGeom prst="rect">
            <a:avLst/>
          </a:prstGeom>
        </p:spPr>
      </p:pic>
    </p:spTree>
    <p:extLst>
      <p:ext uri="{BB962C8B-B14F-4D97-AF65-F5344CB8AC3E}">
        <p14:creationId xmlns:p14="http://schemas.microsoft.com/office/powerpoint/2010/main" val="1699855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3" name="Picture 2">
            <a:extLst>
              <a:ext uri="{FF2B5EF4-FFF2-40B4-BE49-F238E27FC236}">
                <a16:creationId xmlns:a16="http://schemas.microsoft.com/office/drawing/2014/main" id="{F401DF37-557E-3133-4F50-1ED6CCE32CB3}"/>
              </a:ext>
            </a:extLst>
          </p:cNvPr>
          <p:cNvPicPr>
            <a:picLocks noChangeAspect="1"/>
          </p:cNvPicPr>
          <p:nvPr/>
        </p:nvPicPr>
        <p:blipFill>
          <a:blip r:embed="rId3"/>
          <a:stretch>
            <a:fillRect/>
          </a:stretch>
        </p:blipFill>
        <p:spPr>
          <a:xfrm>
            <a:off x="355061" y="1136188"/>
            <a:ext cx="8836089" cy="5233408"/>
          </a:xfrm>
          <a:prstGeom prst="rect">
            <a:avLst/>
          </a:prstGeom>
        </p:spPr>
      </p:pic>
    </p:spTree>
    <p:extLst>
      <p:ext uri="{BB962C8B-B14F-4D97-AF65-F5344CB8AC3E}">
        <p14:creationId xmlns:p14="http://schemas.microsoft.com/office/powerpoint/2010/main" val="417619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4" name="Picture 3">
            <a:extLst>
              <a:ext uri="{FF2B5EF4-FFF2-40B4-BE49-F238E27FC236}">
                <a16:creationId xmlns:a16="http://schemas.microsoft.com/office/drawing/2014/main" id="{36CE670A-3BBD-A0D1-0D22-F47DBDBD6F58}"/>
              </a:ext>
            </a:extLst>
          </p:cNvPr>
          <p:cNvPicPr>
            <a:picLocks noChangeAspect="1"/>
          </p:cNvPicPr>
          <p:nvPr/>
        </p:nvPicPr>
        <p:blipFill>
          <a:blip r:embed="rId3"/>
          <a:stretch>
            <a:fillRect/>
          </a:stretch>
        </p:blipFill>
        <p:spPr>
          <a:xfrm>
            <a:off x="211554" y="1106515"/>
            <a:ext cx="8876462" cy="5316148"/>
          </a:xfrm>
          <a:prstGeom prst="rect">
            <a:avLst/>
          </a:prstGeom>
        </p:spPr>
      </p:pic>
    </p:spTree>
    <p:extLst>
      <p:ext uri="{BB962C8B-B14F-4D97-AF65-F5344CB8AC3E}">
        <p14:creationId xmlns:p14="http://schemas.microsoft.com/office/powerpoint/2010/main" val="1173964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Screenshots of Project</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pic>
        <p:nvPicPr>
          <p:cNvPr id="4" name="Picture 3">
            <a:extLst>
              <a:ext uri="{FF2B5EF4-FFF2-40B4-BE49-F238E27FC236}">
                <a16:creationId xmlns:a16="http://schemas.microsoft.com/office/drawing/2014/main" id="{2A0593F1-4505-2C42-BC02-7943098563B7}"/>
              </a:ext>
            </a:extLst>
          </p:cNvPr>
          <p:cNvPicPr>
            <a:picLocks noChangeAspect="1"/>
          </p:cNvPicPr>
          <p:nvPr/>
        </p:nvPicPr>
        <p:blipFill>
          <a:blip r:embed="rId3"/>
          <a:stretch>
            <a:fillRect/>
          </a:stretch>
        </p:blipFill>
        <p:spPr>
          <a:xfrm>
            <a:off x="373224" y="1175504"/>
            <a:ext cx="8500188" cy="5154775"/>
          </a:xfrm>
          <a:prstGeom prst="rect">
            <a:avLst/>
          </a:prstGeom>
        </p:spPr>
      </p:pic>
    </p:spTree>
    <p:extLst>
      <p:ext uri="{BB962C8B-B14F-4D97-AF65-F5344CB8AC3E}">
        <p14:creationId xmlns:p14="http://schemas.microsoft.com/office/powerpoint/2010/main" val="45379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Future Scope</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3" name="TextBox 2">
            <a:extLst>
              <a:ext uri="{FF2B5EF4-FFF2-40B4-BE49-F238E27FC236}">
                <a16:creationId xmlns:a16="http://schemas.microsoft.com/office/drawing/2014/main" id="{EDCF364B-C1BA-3E07-EEEC-384E39DBF5A0}"/>
              </a:ext>
            </a:extLst>
          </p:cNvPr>
          <p:cNvSpPr txBox="1"/>
          <p:nvPr/>
        </p:nvSpPr>
        <p:spPr>
          <a:xfrm>
            <a:off x="192800" y="1490734"/>
            <a:ext cx="9517224" cy="4524315"/>
          </a:xfrm>
          <a:prstGeom prst="rect">
            <a:avLst/>
          </a:prstGeom>
          <a:noFill/>
        </p:spPr>
        <p:txBody>
          <a:bodyPr wrap="square">
            <a:spAutoFit/>
          </a:bodyPr>
          <a:lstStyle/>
          <a:p>
            <a:pPr algn="l">
              <a:buFont typeface="+mj-lt"/>
              <a:buAutoNum type="arabicPeriod"/>
            </a:pPr>
            <a:r>
              <a:rPr lang="en-US" b="1" i="0" dirty="0">
                <a:solidFill>
                  <a:srgbClr val="111111"/>
                </a:solidFill>
                <a:effectLst/>
                <a:latin typeface="-apple-system"/>
              </a:rPr>
              <a:t>Enhanced Data Collection</a:t>
            </a:r>
            <a:r>
              <a:rPr lang="en-US" b="0" i="0" dirty="0">
                <a:solidFill>
                  <a:srgbClr val="111111"/>
                </a:solidFill>
                <a:effectLst/>
                <a:latin typeface="-apple-system"/>
              </a:rPr>
              <a:t>: Gather more detailed data on additional features like battery life and camera quality.</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Advanced Analysis Techniques</a:t>
            </a:r>
            <a:r>
              <a:rPr lang="en-US" b="0" i="0" dirty="0">
                <a:solidFill>
                  <a:srgbClr val="111111"/>
                </a:solidFill>
                <a:effectLst/>
                <a:latin typeface="-apple-system"/>
              </a:rPr>
              <a:t>: Implement machine learning models to predict sales trends and customer ratings.</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Interactive Dashboards</a:t>
            </a:r>
            <a:r>
              <a:rPr lang="en-US" b="0" i="0" dirty="0">
                <a:solidFill>
                  <a:srgbClr val="111111"/>
                </a:solidFill>
                <a:effectLst/>
                <a:latin typeface="-apple-system"/>
              </a:rPr>
              <a:t>: Develop interactive dashboards using tools like </a:t>
            </a:r>
            <a:r>
              <a:rPr lang="en-US" b="0" i="0" dirty="0" err="1">
                <a:solidFill>
                  <a:srgbClr val="111111"/>
                </a:solidFill>
                <a:effectLst/>
                <a:latin typeface="-apple-system"/>
              </a:rPr>
              <a:t>Plotly</a:t>
            </a:r>
            <a:r>
              <a:rPr lang="en-US" b="0" i="0" dirty="0">
                <a:solidFill>
                  <a:srgbClr val="111111"/>
                </a:solidFill>
                <a:effectLst/>
                <a:latin typeface="-apple-system"/>
              </a:rPr>
              <a:t> or Dash.</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Real-time Data Integration</a:t>
            </a:r>
            <a:r>
              <a:rPr lang="en-US" b="0" i="0" dirty="0">
                <a:solidFill>
                  <a:srgbClr val="111111"/>
                </a:solidFill>
                <a:effectLst/>
                <a:latin typeface="-apple-system"/>
              </a:rPr>
              <a:t>: Integrate real-time data feeds to keep the analysis up-to-date.</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Comparative Analysis</a:t>
            </a:r>
            <a:r>
              <a:rPr lang="en-US" b="0" i="0" dirty="0">
                <a:solidFill>
                  <a:srgbClr val="111111"/>
                </a:solidFill>
                <a:effectLst/>
                <a:latin typeface="-apple-system"/>
              </a:rPr>
              <a:t>: Compare Apple products with competitors to identify market strengths and weaknesses.</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Predictive Analytics</a:t>
            </a:r>
            <a:r>
              <a:rPr lang="en-US" b="0" i="0" dirty="0">
                <a:solidFill>
                  <a:srgbClr val="111111"/>
                </a:solidFill>
                <a:effectLst/>
                <a:latin typeface="-apple-system"/>
              </a:rPr>
              <a:t>: Use predictive analytics to forecast future sales and market opportunities.</a:t>
            </a:r>
          </a:p>
          <a:p>
            <a:pPr algn="l">
              <a:buFont typeface="+mj-lt"/>
              <a:buAutoNum type="arabicPeriod"/>
            </a:pP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User Experience Improvements</a:t>
            </a:r>
            <a:r>
              <a:rPr lang="en-US" b="0" i="0" dirty="0">
                <a:solidFill>
                  <a:srgbClr val="111111"/>
                </a:solidFill>
                <a:effectLst/>
                <a:latin typeface="-apple-system"/>
              </a:rPr>
              <a:t>: Continuously improve the project based on user feedback.</a:t>
            </a:r>
          </a:p>
        </p:txBody>
      </p:sp>
    </p:spTree>
    <p:extLst>
      <p:ext uri="{BB962C8B-B14F-4D97-AF65-F5344CB8AC3E}">
        <p14:creationId xmlns:p14="http://schemas.microsoft.com/office/powerpoint/2010/main" val="370414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133">
            <a:extLst>
              <a:ext uri="{FF2B5EF4-FFF2-40B4-BE49-F238E27FC236}">
                <a16:creationId xmlns:a16="http://schemas.microsoft.com/office/drawing/2014/main" id="{6F7B47BD-258F-4F64-9422-12BCE02D0EE2}"/>
              </a:ext>
            </a:extLst>
          </p:cNvPr>
          <p:cNvSpPr/>
          <p:nvPr/>
        </p:nvSpPr>
        <p:spPr>
          <a:xfrm>
            <a:off x="528795" y="372009"/>
            <a:ext cx="4648201"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bg1"/>
                </a:solidFill>
                <a:latin typeface="Samsung Sharp Sans" pitchFamily="2" charset="0"/>
                <a:ea typeface="Samsung Sharp Sans" pitchFamily="2" charset="0"/>
                <a:cs typeface="Samsung Sharp Sans" pitchFamily="2" charset="0"/>
              </a:rPr>
              <a:t>Conclusion</a:t>
            </a:r>
          </a:p>
        </p:txBody>
      </p:sp>
      <p:grpSp>
        <p:nvGrpSpPr>
          <p:cNvPr id="22" name="Group 1">
            <a:extLst>
              <a:ext uri="{FF2B5EF4-FFF2-40B4-BE49-F238E27FC236}">
                <a16:creationId xmlns:a16="http://schemas.microsoft.com/office/drawing/2014/main" id="{7D0214F6-55D5-4943-ABF3-DD8494318B52}"/>
              </a:ext>
            </a:extLst>
          </p:cNvPr>
          <p:cNvGrpSpPr/>
          <p:nvPr/>
        </p:nvGrpSpPr>
        <p:grpSpPr>
          <a:xfrm>
            <a:off x="711675" y="3121858"/>
            <a:ext cx="4197033" cy="631034"/>
            <a:chOff x="4364136" y="3225982"/>
            <a:chExt cx="4197033" cy="631034"/>
          </a:xfrm>
        </p:grpSpPr>
        <p:sp>
          <p:nvSpPr>
            <p:cNvPr id="23" name="직사각형 37">
              <a:extLst>
                <a:ext uri="{FF2B5EF4-FFF2-40B4-BE49-F238E27FC236}">
                  <a16:creationId xmlns:a16="http://schemas.microsoft.com/office/drawing/2014/main" id="{D865D17B-F777-4FD2-8230-F732FA95C4AA}"/>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25" name="직사각형 39">
              <a:extLst>
                <a:ext uri="{FF2B5EF4-FFF2-40B4-BE49-F238E27FC236}">
                  <a16:creationId xmlns:a16="http://schemas.microsoft.com/office/drawing/2014/main" id="{3B3BE372-327F-4EA0-843F-E838E3336A63}"/>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grpSp>
        <p:nvGrpSpPr>
          <p:cNvPr id="26" name="Group 1">
            <a:extLst>
              <a:ext uri="{FF2B5EF4-FFF2-40B4-BE49-F238E27FC236}">
                <a16:creationId xmlns:a16="http://schemas.microsoft.com/office/drawing/2014/main" id="{B04F504A-8F12-4222-8233-E8A01A62BE7F}"/>
              </a:ext>
            </a:extLst>
          </p:cNvPr>
          <p:cNvGrpSpPr/>
          <p:nvPr/>
        </p:nvGrpSpPr>
        <p:grpSpPr>
          <a:xfrm>
            <a:off x="711675" y="4496571"/>
            <a:ext cx="4197033" cy="631034"/>
            <a:chOff x="4364136" y="3225982"/>
            <a:chExt cx="4197033" cy="631034"/>
          </a:xfrm>
        </p:grpSpPr>
        <p:sp>
          <p:nvSpPr>
            <p:cNvPr id="27" name="직사각형 37">
              <a:extLst>
                <a:ext uri="{FF2B5EF4-FFF2-40B4-BE49-F238E27FC236}">
                  <a16:creationId xmlns:a16="http://schemas.microsoft.com/office/drawing/2014/main" id="{842BA52B-D28D-4DA4-ABFF-1D65A88FF870}"/>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600"/>
                </a:spcAft>
              </a:pPr>
              <a:endParaRPr lang="en-US" altLang="ko-KR" dirty="0">
                <a:solidFill>
                  <a:schemeClr val="tx1">
                    <a:lumMod val="75000"/>
                    <a:lumOff val="25000"/>
                  </a:schemeClr>
                </a:solidFill>
                <a:latin typeface="SamsungOne 700" panose="020B0803030303020204" pitchFamily="34" charset="0"/>
                <a:ea typeface="SamsungOne 700" panose="020B0803030303020204" pitchFamily="34" charset="0"/>
              </a:endParaRPr>
            </a:p>
          </p:txBody>
        </p:sp>
        <p:sp>
          <p:nvSpPr>
            <p:cNvPr id="45" name="직사각형 39">
              <a:extLst>
                <a:ext uri="{FF2B5EF4-FFF2-40B4-BE49-F238E27FC236}">
                  <a16:creationId xmlns:a16="http://schemas.microsoft.com/office/drawing/2014/main" id="{6900D595-0C92-4F9C-979A-BA20F7B7CEED}"/>
                </a:ext>
              </a:extLst>
            </p:cNvPr>
            <p:cNvSpPr/>
            <p:nvPr/>
          </p:nvSpPr>
          <p:spPr>
            <a:xfrm>
              <a:off x="5160752" y="3641572"/>
              <a:ext cx="340041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endParaRPr lang="en-US" altLang="ko-KR" sz="1400" dirty="0">
                <a:solidFill>
                  <a:schemeClr val="bg1">
                    <a:lumMod val="65000"/>
                  </a:schemeClr>
                </a:solidFill>
                <a:latin typeface="SamsungOne 400" panose="020B0503030303020204" pitchFamily="34" charset="0"/>
                <a:ea typeface="SamsungOne 400" panose="020B0503030303020204" pitchFamily="34" charset="0"/>
              </a:endParaRPr>
            </a:p>
          </p:txBody>
        </p:sp>
      </p:grpSp>
      <p:sp>
        <p:nvSpPr>
          <p:cNvPr id="3" name="TextBox 2">
            <a:extLst>
              <a:ext uri="{FF2B5EF4-FFF2-40B4-BE49-F238E27FC236}">
                <a16:creationId xmlns:a16="http://schemas.microsoft.com/office/drawing/2014/main" id="{DF7E155D-F440-96E8-5EFA-3F9E61D7A7E3}"/>
              </a:ext>
            </a:extLst>
          </p:cNvPr>
          <p:cNvSpPr txBox="1"/>
          <p:nvPr/>
        </p:nvSpPr>
        <p:spPr>
          <a:xfrm>
            <a:off x="831230" y="1629233"/>
            <a:ext cx="8154955" cy="4031873"/>
          </a:xfrm>
          <a:prstGeom prst="rect">
            <a:avLst/>
          </a:prstGeom>
          <a:noFill/>
        </p:spPr>
        <p:txBody>
          <a:bodyPr wrap="square">
            <a:spAutoFit/>
          </a:bodyPr>
          <a:lstStyle/>
          <a:p>
            <a:pPr algn="l"/>
            <a:r>
              <a:rPr lang="en-US" sz="1600" b="0" i="0" dirty="0">
                <a:solidFill>
                  <a:srgbClr val="111111"/>
                </a:solidFill>
                <a:effectLst/>
                <a:latin typeface="Arial" panose="020B0604020202020204" pitchFamily="34" charset="0"/>
                <a:cs typeface="Arial" panose="020B0604020202020204" pitchFamily="34" charset="0"/>
              </a:rPr>
              <a:t>In this project, we conducted a comprehensive analysis of Apple product data, focusing on various aspects such as sale prices, star ratings, and customer reviews. Through visualizations created using Matplotlib and Seaborn, we identified key trends and patterns, such as the distribution of RAM in iPhones and the correlation between sale prices and star ratings. This analysis provides valuable insights into customer preferences and product performance, which can be leveraged for strategic decision-making and future product development.</a:t>
            </a:r>
          </a:p>
          <a:p>
            <a:pPr algn="l"/>
            <a:endParaRPr lang="en-US" sz="1600" b="0" i="0" dirty="0">
              <a:solidFill>
                <a:srgbClr val="111111"/>
              </a:solidFill>
              <a:effectLst/>
              <a:latin typeface="Arial" panose="020B0604020202020204" pitchFamily="34" charset="0"/>
              <a:cs typeface="Arial" panose="020B0604020202020204" pitchFamily="34" charset="0"/>
            </a:endParaRPr>
          </a:p>
          <a:p>
            <a:pPr algn="l"/>
            <a:r>
              <a:rPr lang="en-US" sz="1600" b="0" i="0" dirty="0">
                <a:solidFill>
                  <a:srgbClr val="111111"/>
                </a:solidFill>
                <a:effectLst/>
                <a:latin typeface="Arial" panose="020B0604020202020204" pitchFamily="34" charset="0"/>
                <a:cs typeface="Arial" panose="020B0604020202020204" pitchFamily="34" charset="0"/>
              </a:rPr>
              <a:t>Additionally, the analysis highlighted the importance of detailed data collection and advanced analytical techniques in understanding market dynamics. By implementing machine learning models and interactive dashboards, future work can enhance the predictive power and user engagement of the project. </a:t>
            </a:r>
          </a:p>
          <a:p>
            <a:pPr algn="l"/>
            <a:endParaRPr lang="en-US" sz="1600" dirty="0">
              <a:solidFill>
                <a:srgbClr val="111111"/>
              </a:solidFill>
              <a:latin typeface="Arial" panose="020B0604020202020204" pitchFamily="34" charset="0"/>
              <a:cs typeface="Arial" panose="020B0604020202020204" pitchFamily="34" charset="0"/>
            </a:endParaRPr>
          </a:p>
          <a:p>
            <a:pPr algn="l"/>
            <a:r>
              <a:rPr lang="en-US" sz="1600" b="0" i="0" dirty="0">
                <a:solidFill>
                  <a:srgbClr val="111111"/>
                </a:solidFill>
                <a:effectLst/>
                <a:latin typeface="Arial" panose="020B0604020202020204" pitchFamily="34" charset="0"/>
                <a:cs typeface="Arial" panose="020B0604020202020204" pitchFamily="34" charset="0"/>
              </a:rPr>
              <a:t>Overall, this project lays a solid foundation for ongoing analysis and improvement, offering a clear roadmap for future enhancements that can drive better business outcomes and customer satisfaction.</a:t>
            </a:r>
          </a:p>
        </p:txBody>
      </p:sp>
    </p:spTree>
    <p:extLst>
      <p:ext uri="{BB962C8B-B14F-4D97-AF65-F5344CB8AC3E}">
        <p14:creationId xmlns:p14="http://schemas.microsoft.com/office/powerpoint/2010/main" val="1688673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6">
            <a:extLst>
              <a:ext uri="{FF2B5EF4-FFF2-40B4-BE49-F238E27FC236}">
                <a16:creationId xmlns:a16="http://schemas.microsoft.com/office/drawing/2014/main" id="{5D7BE4A2-6816-4C15-8CC8-6EEF7E4F9A24}"/>
              </a:ext>
            </a:extLst>
          </p:cNvPr>
          <p:cNvSpPr>
            <a:spLocks noGrp="1"/>
          </p:cNvSpPr>
          <p:nvPr>
            <p:ph type="body" sz="quarter" idx="15"/>
          </p:nvPr>
        </p:nvSpPr>
        <p:spPr>
          <a:xfrm>
            <a:off x="449467" y="1895089"/>
            <a:ext cx="8055439" cy="914400"/>
          </a:xfrm>
        </p:spPr>
        <p:txBody>
          <a:bodyPr/>
          <a:lstStyle/>
          <a:p>
            <a:pPr lvl="1">
              <a:buFont typeface="Wingdings" panose="05000000000000000000" pitchFamily="2" charset="2"/>
              <a:buChar char="Ø"/>
            </a:pPr>
            <a:r>
              <a:rPr lang="en-IN" b="0" i="0" dirty="0" err="1">
                <a:solidFill>
                  <a:srgbClr val="111111"/>
                </a:solidFill>
                <a:effectLst/>
                <a:latin typeface="-apple-system"/>
              </a:rPr>
              <a:t>Grolemund</a:t>
            </a:r>
            <a:r>
              <a:rPr lang="en-IN" b="0" i="0" dirty="0">
                <a:solidFill>
                  <a:srgbClr val="111111"/>
                </a:solidFill>
                <a:effectLst/>
                <a:latin typeface="-apple-system"/>
              </a:rPr>
              <a:t>, G., &amp; Wickham, H. (2017). </a:t>
            </a:r>
            <a:r>
              <a:rPr lang="en-IN" b="0" i="1" dirty="0">
                <a:solidFill>
                  <a:srgbClr val="111111"/>
                </a:solidFill>
                <a:effectLst/>
                <a:latin typeface="-apple-system"/>
              </a:rPr>
              <a:t>R for Data Science</a:t>
            </a:r>
            <a:r>
              <a:rPr lang="en-IN" b="0" i="0" dirty="0">
                <a:solidFill>
                  <a:srgbClr val="111111"/>
                </a:solidFill>
                <a:effectLst/>
                <a:latin typeface="-apple-system"/>
              </a:rPr>
              <a:t>. O’Reilly Media</a:t>
            </a:r>
          </a:p>
          <a:p>
            <a:pPr lvl="1">
              <a:buFont typeface="Wingdings" panose="05000000000000000000" pitchFamily="2" charset="2"/>
              <a:buChar char="Ø"/>
            </a:pPr>
            <a:r>
              <a:rPr lang="en-IN" b="0" i="0" dirty="0" err="1">
                <a:solidFill>
                  <a:srgbClr val="111111"/>
                </a:solidFill>
                <a:effectLst/>
                <a:latin typeface="-apple-system"/>
              </a:rPr>
              <a:t>VanderPlas</a:t>
            </a:r>
            <a:r>
              <a:rPr lang="en-IN" b="0" i="0" dirty="0">
                <a:solidFill>
                  <a:srgbClr val="111111"/>
                </a:solidFill>
                <a:effectLst/>
                <a:latin typeface="-apple-system"/>
              </a:rPr>
              <a:t>, J. (2016). </a:t>
            </a:r>
            <a:r>
              <a:rPr lang="en-IN" b="0" i="1" dirty="0">
                <a:solidFill>
                  <a:srgbClr val="111111"/>
                </a:solidFill>
                <a:effectLst/>
                <a:latin typeface="-apple-system"/>
              </a:rPr>
              <a:t>Python Data Science Handbook</a:t>
            </a:r>
            <a:r>
              <a:rPr lang="en-IN" b="0" i="0" dirty="0">
                <a:solidFill>
                  <a:srgbClr val="111111"/>
                </a:solidFill>
                <a:effectLst/>
                <a:latin typeface="-apple-system"/>
              </a:rPr>
              <a:t>. O’Reilly Media.</a:t>
            </a:r>
          </a:p>
        </p:txBody>
      </p:sp>
      <p:sp>
        <p:nvSpPr>
          <p:cNvPr id="8" name="Speech Bubble: Rectangle 3">
            <a:extLst>
              <a:ext uri="{FF2B5EF4-FFF2-40B4-BE49-F238E27FC236}">
                <a16:creationId xmlns:a16="http://schemas.microsoft.com/office/drawing/2014/main" id="{E80EB278-3D10-47EF-9C4C-A281925E1178}"/>
              </a:ext>
            </a:extLst>
          </p:cNvPr>
          <p:cNvSpPr/>
          <p:nvPr/>
        </p:nvSpPr>
        <p:spPr>
          <a:xfrm>
            <a:off x="6219448" y="5645019"/>
            <a:ext cx="2616642" cy="643763"/>
          </a:xfrm>
          <a:prstGeom prst="wedgeRectCallout">
            <a:avLst>
              <a:gd name="adj1" fmla="val 49389"/>
              <a:gd name="adj2" fmla="val 7116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Project on Data Analysis in </a:t>
            </a:r>
          </a:p>
          <a:p>
            <a:pPr algn="ctr"/>
            <a:r>
              <a:rPr lang="en-US" altLang="ko-KR" sz="1400" dirty="0">
                <a:solidFill>
                  <a:sysClr val="windowText" lastClr="000000"/>
                </a:solidFill>
              </a:rPr>
              <a:t>iPhone Sales</a:t>
            </a:r>
          </a:p>
        </p:txBody>
      </p:sp>
      <p:sp>
        <p:nvSpPr>
          <p:cNvPr id="14" name="제목 1">
            <a:extLst>
              <a:ext uri="{FF2B5EF4-FFF2-40B4-BE49-F238E27FC236}">
                <a16:creationId xmlns:a16="http://schemas.microsoft.com/office/drawing/2014/main" id="{906547BD-7739-49E7-A1AB-5660D23FF318}"/>
              </a:ext>
            </a:extLst>
          </p:cNvPr>
          <p:cNvSpPr txBox="1">
            <a:spLocks/>
          </p:cNvSpPr>
          <p:nvPr/>
        </p:nvSpPr>
        <p:spPr>
          <a:xfrm>
            <a:off x="449467" y="307412"/>
            <a:ext cx="8541187" cy="430887"/>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ko-KR" sz="2800" dirty="0">
                <a:solidFill>
                  <a:schemeClr val="bg1"/>
                </a:solidFill>
              </a:rPr>
              <a:t>Reference</a:t>
            </a:r>
            <a:endParaRPr lang="en-US" sz="2800" dirty="0">
              <a:solidFill>
                <a:schemeClr val="bg1"/>
              </a:solidFill>
            </a:endParaRPr>
          </a:p>
        </p:txBody>
      </p:sp>
      <p:sp>
        <p:nvSpPr>
          <p:cNvPr id="4" name="Title 3">
            <a:extLst>
              <a:ext uri="{FF2B5EF4-FFF2-40B4-BE49-F238E27FC236}">
                <a16:creationId xmlns:a16="http://schemas.microsoft.com/office/drawing/2014/main" id="{0D241E86-0A6B-4F0D-470C-233263901A2D}"/>
              </a:ext>
            </a:extLst>
          </p:cNvPr>
          <p:cNvSpPr>
            <a:spLocks noGrp="1"/>
          </p:cNvSpPr>
          <p:nvPr>
            <p:ph type="title"/>
          </p:nvPr>
        </p:nvSpPr>
        <p:spPr>
          <a:xfrm>
            <a:off x="449468" y="1440000"/>
            <a:ext cx="8541187" cy="369332"/>
          </a:xfrm>
        </p:spPr>
        <p:txBody>
          <a:bodyPr/>
          <a:lstStyle/>
          <a:p>
            <a:r>
              <a:rPr lang="en-IN" sz="2400" b="1" i="0" dirty="0">
                <a:solidFill>
                  <a:srgbClr val="111111"/>
                </a:solidFill>
                <a:effectLst/>
                <a:latin typeface="Aparajita" panose="02020603050405020304" pitchFamily="18" charset="0"/>
                <a:cs typeface="Aparajita" panose="02020603050405020304" pitchFamily="18" charset="0"/>
              </a:rPr>
              <a:t>Books</a:t>
            </a:r>
            <a:endParaRPr lang="en-IN" sz="2400" dirty="0">
              <a:latin typeface="Aparajita" panose="02020603050405020304" pitchFamily="18" charset="0"/>
              <a:cs typeface="Aparajita" panose="02020603050405020304" pitchFamily="18" charset="0"/>
            </a:endParaRPr>
          </a:p>
        </p:txBody>
      </p:sp>
      <p:sp>
        <p:nvSpPr>
          <p:cNvPr id="5" name="TextBox 4">
            <a:extLst>
              <a:ext uri="{FF2B5EF4-FFF2-40B4-BE49-F238E27FC236}">
                <a16:creationId xmlns:a16="http://schemas.microsoft.com/office/drawing/2014/main" id="{1C7322CE-C567-5E27-CB78-4B3AC642E3C0}"/>
              </a:ext>
            </a:extLst>
          </p:cNvPr>
          <p:cNvSpPr txBox="1"/>
          <p:nvPr/>
        </p:nvSpPr>
        <p:spPr>
          <a:xfrm>
            <a:off x="363893" y="2914804"/>
            <a:ext cx="3797560" cy="461665"/>
          </a:xfrm>
          <a:prstGeom prst="rect">
            <a:avLst/>
          </a:prstGeom>
          <a:noFill/>
        </p:spPr>
        <p:txBody>
          <a:bodyPr wrap="square" rtlCol="0">
            <a:spAutoFit/>
          </a:bodyPr>
          <a:lstStyle/>
          <a:p>
            <a:r>
              <a:rPr lang="en-IN" sz="2400" b="1" dirty="0">
                <a:latin typeface="Aparajita" panose="02020603050405020304" pitchFamily="18" charset="0"/>
                <a:cs typeface="Aparajita" panose="02020603050405020304" pitchFamily="18" charset="0"/>
              </a:rPr>
              <a:t>Websites</a:t>
            </a:r>
          </a:p>
        </p:txBody>
      </p:sp>
      <p:sp>
        <p:nvSpPr>
          <p:cNvPr id="6" name="TextBox 5">
            <a:extLst>
              <a:ext uri="{FF2B5EF4-FFF2-40B4-BE49-F238E27FC236}">
                <a16:creationId xmlns:a16="http://schemas.microsoft.com/office/drawing/2014/main" id="{DD43054A-CA0A-C0B3-274F-D70B5CADB996}"/>
              </a:ext>
            </a:extLst>
          </p:cNvPr>
          <p:cNvSpPr txBox="1"/>
          <p:nvPr/>
        </p:nvSpPr>
        <p:spPr>
          <a:xfrm>
            <a:off x="587828" y="3376469"/>
            <a:ext cx="8541187" cy="1477328"/>
          </a:xfrm>
          <a:prstGeom prst="rect">
            <a:avLst/>
          </a:prstGeom>
          <a:noFill/>
        </p:spPr>
        <p:txBody>
          <a:bodyPr wrap="square" rtlCol="0">
            <a:spAutoFit/>
          </a:bodyPr>
          <a:lstStyle/>
          <a:p>
            <a:pPr marL="285750" indent="-285750" algn="l">
              <a:buFont typeface="Wingdings" panose="05000000000000000000" pitchFamily="2" charset="2"/>
              <a:buChar char="Ø"/>
            </a:pPr>
            <a:r>
              <a:rPr lang="en-US" b="1" i="0" dirty="0" err="1">
                <a:solidFill>
                  <a:srgbClr val="111111"/>
                </a:solidFill>
                <a:effectLst/>
                <a:latin typeface="-apple-system"/>
              </a:rPr>
              <a:t>DataCamp</a:t>
            </a:r>
            <a:r>
              <a:rPr lang="en-US" b="0" i="0" dirty="0">
                <a:solidFill>
                  <a:srgbClr val="111111"/>
                </a:solidFill>
                <a:effectLst/>
                <a:latin typeface="-apple-system"/>
              </a:rPr>
              <a:t>: Provides interactive courses on data science and analytics. </a:t>
            </a:r>
            <a:r>
              <a:rPr lang="en-US" b="0" i="0" dirty="0" err="1">
                <a:solidFill>
                  <a:srgbClr val="111111"/>
                </a:solidFill>
                <a:effectLst/>
                <a:latin typeface="-apple-system"/>
              </a:rPr>
              <a:t>DataCamp</a:t>
            </a:r>
            <a:endParaRPr lang="en-US" b="0" i="0" dirty="0">
              <a:solidFill>
                <a:srgbClr val="111111"/>
              </a:solidFill>
              <a:effectLst/>
              <a:latin typeface="-apple-system"/>
            </a:endParaRPr>
          </a:p>
          <a:p>
            <a:pPr marL="285750" indent="-285750" algn="l">
              <a:buFont typeface="Wingdings" panose="05000000000000000000" pitchFamily="2" charset="2"/>
              <a:buChar char="Ø"/>
            </a:pPr>
            <a:r>
              <a:rPr lang="en-US" b="1" i="0" dirty="0">
                <a:solidFill>
                  <a:srgbClr val="111111"/>
                </a:solidFill>
                <a:effectLst/>
                <a:latin typeface="-apple-system"/>
              </a:rPr>
              <a:t>Towards Data Science</a:t>
            </a:r>
            <a:r>
              <a:rPr lang="en-US" b="0" i="0" dirty="0">
                <a:solidFill>
                  <a:srgbClr val="111111"/>
                </a:solidFill>
                <a:effectLst/>
                <a:latin typeface="-apple-system"/>
              </a:rPr>
              <a:t>: A Medium publication with articles on data science, machine learning, and analytics. Towards Data Science</a:t>
            </a:r>
            <a:endParaRPr lang="en-IN" b="0" i="0" dirty="0">
              <a:solidFill>
                <a:srgbClr val="111111"/>
              </a:solidFill>
              <a:effectLst/>
              <a:latin typeface="-apple-system"/>
            </a:endParaRPr>
          </a:p>
          <a:p>
            <a:pPr marL="285750" indent="-285750" algn="l">
              <a:buFont typeface="Wingdings" panose="05000000000000000000" pitchFamily="2" charset="2"/>
              <a:buChar char="Ø"/>
            </a:pPr>
            <a:r>
              <a:rPr lang="en-US" b="1" i="0" dirty="0">
                <a:solidFill>
                  <a:srgbClr val="111111"/>
                </a:solidFill>
                <a:effectLst/>
                <a:latin typeface="-apple-system"/>
              </a:rPr>
              <a:t>GitHub</a:t>
            </a:r>
            <a:r>
              <a:rPr lang="en-US" b="0" i="0" dirty="0">
                <a:solidFill>
                  <a:srgbClr val="111111"/>
                </a:solidFill>
                <a:effectLst/>
                <a:latin typeface="-apple-system"/>
              </a:rPr>
              <a:t>: Explore repositories like </a:t>
            </a:r>
            <a:r>
              <a:rPr lang="en-US" b="0" i="0" u="none" strike="noStrike" dirty="0">
                <a:effectLst/>
                <a:latin typeface="-apple-system"/>
                <a:hlinkClick r:id="rId2"/>
              </a:rPr>
              <a:t>iPhone Sales Analysis</a:t>
            </a:r>
            <a:r>
              <a:rPr lang="en-US" b="0" i="0" dirty="0">
                <a:effectLst/>
                <a:latin typeface="-apple-system"/>
                <a:hlinkClick r:id="rId2"/>
              </a:rPr>
              <a:t> for practical projects and code examples</a:t>
            </a:r>
            <a:endParaRPr lang="en-US" b="0" i="0" dirty="0">
              <a:solidFill>
                <a:srgbClr val="111111"/>
              </a:solidFill>
              <a:effectLst/>
              <a:latin typeface="-apple-system"/>
            </a:endParaRPr>
          </a:p>
        </p:txBody>
      </p:sp>
    </p:spTree>
    <p:extLst>
      <p:ext uri="{BB962C8B-B14F-4D97-AF65-F5344CB8AC3E}">
        <p14:creationId xmlns:p14="http://schemas.microsoft.com/office/powerpoint/2010/main" val="986184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15018"/>
      </p:ext>
    </p:extLst>
  </p:cSld>
  <p:clrMapOvr>
    <a:masterClrMapping/>
  </p:clrMapOvr>
</p:sld>
</file>

<file path=ppt/theme/theme1.xml><?xml version="1.0" encoding="utf-8"?>
<a:theme xmlns:a="http://schemas.openxmlformats.org/drawingml/2006/main" name="SIC_Template_AI">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4203</TotalTime>
  <Words>1105</Words>
  <Application>Microsoft Office PowerPoint</Application>
  <PresentationFormat>Custom</PresentationFormat>
  <Paragraphs>116</Paragraphs>
  <Slides>17</Slides>
  <Notes>13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17</vt:i4>
      </vt:variant>
    </vt:vector>
  </HeadingPairs>
  <TitlesOfParts>
    <vt:vector size="31" baseType="lpstr">
      <vt:lpstr>맑은 고딕</vt:lpstr>
      <vt:lpstr>Aparajita</vt:lpstr>
      <vt:lpstr>-apple-system</vt:lpstr>
      <vt:lpstr>Arial</vt:lpstr>
      <vt:lpstr>Calibri</vt:lpstr>
      <vt:lpstr>Samsung Sharp Sans</vt:lpstr>
      <vt:lpstr>Samsung Sharp Sans Bold</vt:lpstr>
      <vt:lpstr>Samsung Sharp Sans Medium</vt:lpstr>
      <vt:lpstr>SamsungOne 400</vt:lpstr>
      <vt:lpstr>SamsungOne 400C</vt:lpstr>
      <vt:lpstr>SamsungOne 700</vt:lpstr>
      <vt:lpstr>SamsungOne-400</vt:lpstr>
      <vt:lpstr>Wingdings</vt:lpstr>
      <vt:lpstr>SIC_Template_AI</vt:lpstr>
      <vt:lpstr>Samsung Innovation Campus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Books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dc:title>
  <dc:creator>Soon Yong Chang</dc:creator>
  <cp:lastModifiedBy>Brijesh Kashyap</cp:lastModifiedBy>
  <cp:revision>2068</cp:revision>
  <dcterms:created xsi:type="dcterms:W3CDTF">2019-07-06T14:12:49Z</dcterms:created>
  <dcterms:modified xsi:type="dcterms:W3CDTF">2024-09-11T08:09:58Z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